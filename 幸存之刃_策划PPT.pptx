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254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6350">
            <a:solidFill>
              <a:srgbClr val="806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827"/>
                </a:solidFill>
              </a:rPr>
              <a:t>幸存之刃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CCCCCC"/>
                </a:solidFill>
              </a:rPr>
              <a:t>Blade Survivor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91840"/>
            <a:ext cx="103601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BC9C"/>
                </a:solidFill>
              </a:rPr>
              <a:t>Roguelite 弹幕割草 · 东方仙侠题材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引擎：Cocos Creator 3.8.8　|　平台：Web / Android / 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单局时长：15 ~ 30 分钟　|　目标受众：15 ~ 35 岁休闲到中度玩家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5394960"/>
            <a:ext cx="5788152" cy="82296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440680"/>
            <a:ext cx="5788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27"/>
                </a:solidFill>
              </a:rPr>
              <a:t>策划提案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📋  演讲目录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游戏定位与核心体验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爽感三要素 · 差异化定位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30352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游戏简介 &amp; 核心玩法循环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691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仙侠背景 · 从弱到强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530352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核心机制详解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自动攻击 · 升级三选一 · 合成系统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30352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角色与成长系统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3大门派 · 6大属性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91840"/>
            <a:ext cx="530352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敌人 &amp; 关卡设计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时间轴 · BOSS · AI行为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80560"/>
            <a:ext cx="530352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70332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技术架构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对象池 · ECS · 数据驱动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480560"/>
            <a:ext cx="5303520" cy="18288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89204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92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UI/UX &amp; 美术风格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HUD · 升级界面 · 像素风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92040"/>
            <a:ext cx="50292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892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开发里程碑 &amp; 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11周计划 · 核心亮点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🎯  游戏定位与核心体验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C9A827"/>
                </a:solidFill>
              </a:rPr>
              <a:t>"让玩家在短短 15~20 分钟内，体验从弱小到无敌的成长爽感"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566160" cy="3291840"/>
          </a:xfrm>
          <a:prstGeom prst="rect">
            <a:avLst/>
          </a:prstGeom>
          <a:solidFill>
            <a:srgbClr val="1B2A45"/>
          </a:solidFill>
          <a:ln w="1905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27"/>
                </a:solidFill>
              </a:rPr>
              <a:t>成长爽感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94760"/>
            <a:ext cx="283464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每次升级选技能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属性暴增的即时反馈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数值成长可视化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86000"/>
            <a:ext cx="3566160" cy="3291840"/>
          </a:xfrm>
          <a:prstGeom prst="rect">
            <a:avLst/>
          </a:prstGeom>
          <a:solidFill>
            <a:srgbClr val="1B2A45"/>
          </a:solidFill>
          <a:ln w="1905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004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27"/>
                </a:solidFill>
              </a:rPr>
              <a:t>视觉冲击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794760"/>
            <a:ext cx="283464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满屏技能弹幕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敌人爆炸掉落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相机震动 + 粒子特效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3566160" cy="3291840"/>
          </a:xfrm>
          <a:prstGeom prst="rect">
            <a:avLst/>
          </a:prstGeom>
          <a:solidFill>
            <a:srgbClr val="1B2A45"/>
          </a:solidFill>
          <a:ln w="1905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68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004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27"/>
                </a:solidFill>
              </a:rPr>
              <a:t>重复可玩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794760"/>
            <a:ext cx="283464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Roguelite 随机性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每局技能组合不同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无穷变化保证新鲜感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3493008" cy="502920"/>
          </a:xfrm>
          <a:prstGeom prst="rect">
            <a:avLst/>
          </a:prstGeom>
          <a:solidFill>
            <a:srgbClr val="1A3A5A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33101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流派：Roguelite + 弹幕割草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3087" y="5943600"/>
            <a:ext cx="3986784" cy="502920"/>
          </a:xfrm>
          <a:prstGeom prst="rect">
            <a:avLst/>
          </a:prstGeom>
          <a:solidFill>
            <a:srgbClr val="1A3A5A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4527" y="5989320"/>
            <a:ext cx="3803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平台：Web / Android / iOS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1" y="5943600"/>
            <a:ext cx="2176272" cy="502920"/>
          </a:xfrm>
          <a:prstGeom prst="rect">
            <a:avLst/>
          </a:prstGeom>
          <a:solidFill>
            <a:srgbClr val="1A3A5A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1" y="598932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单局：15~30 分钟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1903" y="5943600"/>
            <a:ext cx="1847088" cy="502920"/>
          </a:xfrm>
          <a:prstGeom prst="rect">
            <a:avLst/>
          </a:prstGeom>
          <a:solidFill>
            <a:srgbClr val="1A3A5A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53343" y="5989320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受众：15~35岁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📖  游戏简介 &amp; 核心玩法循环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5212080"/>
          </a:xfrm>
          <a:prstGeom prst="rect">
            <a:avLst/>
          </a:prstGeom>
          <a:solidFill>
            <a:srgbClr val="1B2A45"/>
          </a:solidFill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27"/>
                </a:solidFill>
              </a:rPr>
              <a:t>游戏简介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02920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• 东方仙侠背景 Roguelite 生存割草游戏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玩家扮演散修，在妖魔封锁的禁地中求生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从一介无名小卒开始积累修为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通过击杀妖魔获得灵石（经验）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选择功法强化自身，最终证道飞升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每局不同技能组合 → 无穷体验变化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差异化亮点：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  ⚔ 东方仙侠题材（区别于西方吸血鬼题材）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  🌀 境界突破系统（独特关键节点决策）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  ⚡ 合成技能系统（6种天道级合成技能）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5212080"/>
          </a:xfrm>
          <a:prstGeom prst="rect">
            <a:avLst/>
          </a:prstGeom>
          <a:solidFill>
            <a:srgbClr val="1B2A45"/>
          </a:solidFill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27"/>
                </a:solidFill>
              </a:rPr>
              <a:t>核心玩法循环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02920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20240"/>
            <a:ext cx="4937760" cy="384048"/>
          </a:xfrm>
          <a:prstGeom prst="rect">
            <a:avLst/>
          </a:prstGeom>
          <a:solidFill>
            <a:srgbClr val="0D1B3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385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27"/>
                </a:solidFill>
              </a:rPr>
              <a:t>▶  选择角色/门派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2677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C9C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441448"/>
            <a:ext cx="4937760" cy="384048"/>
          </a:xfrm>
          <a:prstGeom prst="rect">
            <a:avLst/>
          </a:prstGeom>
          <a:solidFill>
            <a:srgbClr val="122238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597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进入关卡（持续刷怪）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889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C9C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962656"/>
            <a:ext cx="4937760" cy="384048"/>
          </a:xfrm>
          <a:prstGeom prst="rect">
            <a:avLst/>
          </a:prstGeom>
          <a:solidFill>
            <a:srgbClr val="0D1B3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9809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自动攻击 + 手动移动闪避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3101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C9C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483864"/>
            <a:ext cx="4937760" cy="384048"/>
          </a:xfrm>
          <a:prstGeom prst="rect">
            <a:avLst/>
          </a:prstGeom>
          <a:solidFill>
            <a:srgbClr val="122238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5021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击败敌人 → 获得灵石(经验)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8313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C9C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005072"/>
            <a:ext cx="4937760" cy="384048"/>
          </a:xfrm>
          <a:prstGeom prst="rect">
            <a:avLst/>
          </a:prstGeom>
          <a:solidFill>
            <a:srgbClr val="0D1B3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→  升级 → 三选一技能/强化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3525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C9C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526279"/>
            <a:ext cx="4937760" cy="384048"/>
          </a:xfrm>
          <a:prstGeom prst="rect">
            <a:avLst/>
          </a:prstGeom>
          <a:solidFill>
            <a:srgbClr val="122238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54456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→  精英怪 / BOSS 出现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87375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C9C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047488"/>
            <a:ext cx="4937760" cy="384048"/>
          </a:xfrm>
          <a:prstGeom prst="rect">
            <a:avLst/>
          </a:prstGeom>
          <a:solidFill>
            <a:srgbClr val="0D1B3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06577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[死亡] → 结算 + 道果奖励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394959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C9C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568696"/>
            <a:ext cx="4937760" cy="384048"/>
          </a:xfrm>
          <a:prstGeom prst="rect">
            <a:avLst/>
          </a:prstGeom>
          <a:solidFill>
            <a:srgbClr val="122238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58698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27"/>
                </a:solidFill>
              </a:rPr>
              <a:t>→  解锁新角色/道具 → 新局开始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⚙️  核心机制详解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2377440"/>
          </a:xfrm>
          <a:prstGeom prst="rect">
            <a:avLst/>
          </a:prstGeom>
          <a:solidFill>
            <a:srgbClr val="1B2A4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BC9C"/>
                </a:solidFill>
              </a:rPr>
              <a:t>自动攻击系统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303520" cy="182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自动锁定最近/最多血量敌人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每种武器有独立攻击频率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883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弹道样式多样化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809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升级解锁全新弹道形态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飞剑×1 → 剑雨×5 → 万剑归宗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00" cy="2377440"/>
          </a:xfrm>
          <a:prstGeom prst="rect">
            <a:avLst/>
          </a:prstGeom>
          <a:solidFill>
            <a:srgbClr val="1B2A45"/>
          </a:solidFill>
          <a:ln w="254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4173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27"/>
                </a:solidFill>
              </a:rPr>
              <a:t>升级三选一系统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65960"/>
            <a:ext cx="530352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随机提供 3 张功法卡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9572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新武器（主动技能）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883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被动强化（攻速/暴击/范围）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809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功法进阶（武器升级）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735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特殊词条（罕见/改变规则）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31920"/>
            <a:ext cx="5486400" cy="2377440"/>
          </a:xfrm>
          <a:prstGeom prst="rect">
            <a:avLst/>
          </a:prstGeom>
          <a:solidFill>
            <a:srgbClr val="1B2A4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69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技能合成系统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5303520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武器 + 被动 → 天道级技能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474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飞剑+剑意 → 御剑飞行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400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雷符+范围 → 九天雷劫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327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共计 6 种合成技能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253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作为核心养成目标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931920"/>
            <a:ext cx="5486400" cy="2377440"/>
          </a:xfrm>
          <a:prstGeom prst="rect">
            <a:avLst/>
          </a:prstGeom>
          <a:solidFill>
            <a:srgbClr val="1B2A45"/>
          </a:solidFill>
          <a:ln w="25400">
            <a:solidFill>
              <a:srgbClr val="A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023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69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A66FF"/>
                </a:solidFill>
              </a:rPr>
              <a:t>境界突破系统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617720"/>
            <a:ext cx="5303520" cy="1828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击杀特定数量妖魔触发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0474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暂停游戏 + 专属动画演出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400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提供强力唯一词条选择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6327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每局最多突破 3 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9253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◆  决定局面走向的关键节点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⏱️  关卡时间轴 &amp; 波次推进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10881360" cy="73152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3364992"/>
            <a:ext cx="182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79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27"/>
                </a:solidFill>
              </a:rPr>
              <a:t>0:00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371600"/>
            <a:ext cx="1371600" cy="1554480"/>
          </a:xfrm>
          <a:prstGeom prst="rect">
            <a:avLst/>
          </a:prstGeom>
          <a:solidFill>
            <a:srgbClr val="1B2A4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1417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" y="1920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开局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基础小妖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926080"/>
            <a:ext cx="182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3364992"/>
            <a:ext cx="182880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27"/>
                </a:solidFill>
              </a:rPr>
              <a:t>2:00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3840480"/>
            <a:ext cx="1371600" cy="1554480"/>
          </a:xfrm>
          <a:prstGeom prst="rect">
            <a:avLst/>
          </a:prstGeom>
          <a:solidFill>
            <a:srgbClr val="1B2A45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86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891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BC9C"/>
                </a:solidFill>
              </a:rPr>
              <a:t>精英妖出现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8006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保持距离放技能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3566160"/>
            <a:ext cx="1828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86200" y="3364992"/>
            <a:ext cx="182880" cy="20116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27"/>
                </a:solidFill>
              </a:rPr>
              <a:t>5:00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39" y="1371600"/>
            <a:ext cx="1371600" cy="1554480"/>
          </a:xfrm>
          <a:prstGeom prst="rect">
            <a:avLst/>
          </a:prstGeom>
          <a:solidFill>
            <a:srgbClr val="1B2A45"/>
          </a:solidFill>
          <a:ln w="1905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39" y="1417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1920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27"/>
                </a:solidFill>
              </a:rPr>
              <a:t>MINI-BOSS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第一只 MINI-BOSS 登场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2926080"/>
            <a:ext cx="18288" cy="45720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32120" y="3364992"/>
            <a:ext cx="18288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27"/>
                </a:solidFill>
              </a:rPr>
              <a:t>10:00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59" y="3840480"/>
            <a:ext cx="1371600" cy="1554480"/>
          </a:xfrm>
          <a:prstGeom prst="rect">
            <a:avLst/>
          </a:prstGeom>
          <a:solidFill>
            <a:srgbClr val="1B2A4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59" y="3886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79" y="43891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双精英同屏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79" y="48006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难度显著提升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59" y="3566160"/>
            <a:ext cx="18288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78040" y="3364992"/>
            <a:ext cx="182880" cy="20116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27"/>
                </a:solidFill>
              </a:rPr>
              <a:t>15:00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1371600"/>
            <a:ext cx="1371600" cy="1554480"/>
          </a:xfrm>
          <a:prstGeom prst="rect">
            <a:avLst/>
          </a:prstGeom>
          <a:solidFill>
            <a:srgbClr val="1B2A45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1417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1920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444"/>
                </a:solidFill>
              </a:rPr>
              <a:t>关卡 BOSS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多阶段·极高血量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2926080"/>
            <a:ext cx="18288" cy="457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23959" y="3364992"/>
            <a:ext cx="182880" cy="201168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27"/>
                </a:solidFill>
              </a:rPr>
              <a:t>20:00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840480"/>
            <a:ext cx="1371600" cy="1554480"/>
          </a:xfrm>
          <a:prstGeom prst="rect">
            <a:avLst/>
          </a:prstGeom>
          <a:solidFill>
            <a:srgbClr val="1B2A45"/>
          </a:solidFill>
          <a:ln w="19050">
            <a:solidFill>
              <a:srgbClr val="AA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3886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19" y="43891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00FF"/>
                </a:solidFill>
              </a:rPr>
              <a:t>死亡潮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9" y="48006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无限增强敌人涌入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3566160"/>
            <a:ext cx="18288" cy="27432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69880" y="3364992"/>
            <a:ext cx="182880" cy="20116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27"/>
                </a:solidFill>
              </a:rPr>
              <a:t>30:00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75520" y="1371600"/>
            <a:ext cx="1371600" cy="1554480"/>
          </a:xfrm>
          <a:prstGeom prst="rect">
            <a:avLst/>
          </a:prstGeom>
          <a:solidFill>
            <a:srgbClr val="1B2A45"/>
          </a:solidFill>
          <a:ln w="1905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75520" y="1417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1920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27"/>
                </a:solidFill>
              </a:rPr>
              <a:t>证道飞升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通关！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61320" y="2926080"/>
            <a:ext cx="18288" cy="45720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👤  角色与成长系统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3474720"/>
          </a:xfrm>
          <a:prstGeom prst="rect">
            <a:avLst/>
          </a:prstGeom>
          <a:solidFill>
            <a:srgbClr val="1B2A4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1417319"/>
            <a:ext cx="11887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463039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⚔️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BC9C"/>
                </a:solidFill>
              </a:rPr>
              <a:t>剑修·明远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827"/>
                </a:solidFill>
              </a:rPr>
              <a:t>门派：剑宗  ·  武器：飞剑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3017520" cy="182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攻速快，单体伤害高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灵力★★★★★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攻速★★★★★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血量★★★☆☆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66160" cy="3474720"/>
          </a:xfrm>
          <a:prstGeom prst="rect">
            <a:avLst/>
          </a:prstGeom>
          <a:solidFill>
            <a:srgbClr val="1B2A45"/>
          </a:solidFill>
          <a:ln w="254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417319"/>
            <a:ext cx="11887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463039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27"/>
                </a:solidFill>
              </a:rPr>
              <a:t>符修·灵素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827"/>
                </a:solidFill>
              </a:rPr>
              <a:t>门派：符宗  ·  武器：雷符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474720"/>
            <a:ext cx="301752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AOE 广，控场能力强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31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灵力★★★★☆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AOE ★★★★★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血量★★☆☆☆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3566160" cy="3474720"/>
          </a:xfrm>
          <a:prstGeom prst="rect">
            <a:avLst/>
          </a:prstGeom>
          <a:solidFill>
            <a:srgbClr val="1B2A4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1417319"/>
            <a:ext cx="11887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463039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体修·铁牛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827"/>
                </a:solidFill>
              </a:rPr>
              <a:t>门派：武宗  ·  武器：拳罡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474720"/>
            <a:ext cx="3017520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高血量，近距离爆发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931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灵力★★★☆☆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近战★★★★★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血量★★★★★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27"/>
                </a:solidFill>
              </a:rPr>
              <a:t>属性体系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12745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3566160" cy="384048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58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【修为】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HP · 生命值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440680"/>
            <a:ext cx="3566160" cy="384048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5458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27"/>
                </a:solidFill>
              </a:rPr>
              <a:t>【灵力】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攻击 · 技能伤害倍率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5440680"/>
            <a:ext cx="3566160" cy="384048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458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【身法】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移速 · 移动速度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897880"/>
            <a:ext cx="3566160" cy="384048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16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【悟性】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943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经验增速 · 经验获取倍率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897880"/>
            <a:ext cx="3566160" cy="384048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916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【护体】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5943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防御 · 受击伤害减免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5897880"/>
            <a:ext cx="3566160" cy="384048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916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27"/>
                </a:solidFill>
              </a:rPr>
              <a:t>【运势】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943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暴击 · 暴击率与暴击伤害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👾  敌人设计 &amp; AI 行为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338560" cy="1097280"/>
          </a:xfrm>
          <a:prstGeom prst="rect">
            <a:avLst/>
          </a:prstGeom>
          <a:solidFill>
            <a:srgbClr val="1B2A4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小妖（普通）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低血量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554480"/>
            <a:ext cx="27432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行为：直线冲向玩家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202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🤖 AI：普通Steering导向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554480"/>
            <a:ext cx="27432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347472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威胁等级：⭐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11338560" cy="1097280"/>
          </a:xfrm>
          <a:prstGeom prst="rect">
            <a:avLst/>
          </a:prstGeom>
          <a:solidFill>
            <a:srgbClr val="1B2A45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BC9C"/>
                </a:solidFill>
              </a:rPr>
              <a:t>精英妖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154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中血量·特殊能力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788920"/>
            <a:ext cx="27432" cy="7315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697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行为：保持距离放技能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54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🤖 AI：状态机：移动→攻击→技能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788920"/>
            <a:ext cx="27432" cy="7315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834640"/>
            <a:ext cx="347472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880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威胁等级：⭐⭐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11338560" cy="1097280"/>
          </a:xfrm>
          <a:prstGeom prst="rect">
            <a:avLst/>
          </a:prstGeom>
          <a:solidFill>
            <a:srgbClr val="1B2A45"/>
          </a:solidFill>
          <a:ln w="1905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27"/>
                </a:solidFill>
              </a:rPr>
              <a:t>MINI-BOSS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389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高血量·多段技能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023360"/>
            <a:ext cx="27432" cy="7315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931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行为：阶段变化·强力技能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891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🤖 AI：状态机·多阶段转换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023360"/>
            <a:ext cx="27432" cy="7315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4069080"/>
            <a:ext cx="347472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114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27"/>
                </a:solidFill>
              </a:rPr>
              <a:t>威胁等级：⭐⭐⭐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74920"/>
            <a:ext cx="11338560" cy="1097280"/>
          </a:xfrm>
          <a:prstGeom prst="rect">
            <a:avLst/>
          </a:prstGeom>
          <a:solidFill>
            <a:srgbClr val="1B2A4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66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</a:rPr>
              <a:t>关卡 BOSS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623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极高血量·多阶段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5257800"/>
            <a:ext cx="27432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0" y="51663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行为：定期无敌+必杀技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6235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C9C"/>
                </a:solidFill>
              </a:rPr>
              <a:t>🤖 AI：状态机·无敌+必杀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5257800"/>
            <a:ext cx="27432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5303520"/>
            <a:ext cx="347472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5349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威胁等级：⭐⭐⭐⭐⭐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309360"/>
            <a:ext cx="11338560" cy="41148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BC9C"/>
                </a:solidFill>
              </a:rPr>
              <a:t>⚡ 性能优化：ECS思想批量更新 + 空间分区(Spatial Hashing) → 支持同屏 500+ 敌人流畅运行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27"/>
                </a:solidFill>
              </a:rPr>
              <a:t>🛠️  技术架构方案（Cocos Creator 3.8.8）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5212080"/>
          </a:xfrm>
          <a:prstGeom prst="rect">
            <a:avLst/>
          </a:prstGeom>
          <a:solidFill>
            <a:srgbClr val="1B2A4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核心框架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39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7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GameManager — 全局状态管理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16351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1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EventBus — 事件总线解耦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12463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03903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ObjectPool — 对象池（最重要）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08575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00015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AudioManager — 音频统一管理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04688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96127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UIManager — UI栈式管理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280160"/>
            <a:ext cx="2743200" cy="5212080"/>
          </a:xfrm>
          <a:prstGeom prst="rect">
            <a:avLst/>
          </a:prstGeom>
          <a:solidFill>
            <a:srgbClr val="1B2A45"/>
          </a:solidFill>
          <a:ln w="254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1280160"/>
            <a:ext cx="2743200" cy="50292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性能优化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920239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01167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对象池：子弹/敌人/特效/掉落物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816351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907791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空间分区：Spatial Hashing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712463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803903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支持同屏 500+ 敌人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608575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700015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批量渲染：同材质合批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5504688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5596127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脏标记：避免每帧刷新UI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280160"/>
            <a:ext cx="2743200" cy="5212080"/>
          </a:xfrm>
          <a:prstGeom prst="rect">
            <a:avLst/>
          </a:prstGeom>
          <a:solidFill>
            <a:srgbClr val="1B2A4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280160"/>
            <a:ext cx="2743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ECS 组件化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920239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01167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MovementComponent — 移动逻辑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16351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907791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HealthComponent — 血量/死亡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712463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803903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AttackComponent — 攻击逻辑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608575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700015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ExperienceDropComponent — 掉落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504688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596127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EventTarget — 组件间解耦通信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280160"/>
            <a:ext cx="2743200" cy="5212080"/>
          </a:xfrm>
          <a:prstGeom prst="rect">
            <a:avLst/>
          </a:prstGeom>
          <a:solidFill>
            <a:srgbClr val="1B2A45"/>
          </a:solidFill>
          <a:ln w="25400">
            <a:solidFill>
              <a:srgbClr val="A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280160"/>
            <a:ext cx="2743200" cy="5029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数据驱动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1920239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201167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JSON 配置驱动所有数值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2816351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2907791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skills.json — 技能定义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3712463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3803903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enemies.json — 敌人属性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4608575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4700015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stages.json — 关卡波次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5504688"/>
            <a:ext cx="25603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5596127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characters.json — 角色定义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🖥️  UI/UX 设计 &amp; 视觉风格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5212080"/>
          </a:xfrm>
          <a:prstGeom prst="rect">
            <a:avLst/>
          </a:prstGeom>
          <a:solidFill>
            <a:srgbClr val="1B2A45"/>
          </a:solidFill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27"/>
                </a:solidFill>
              </a:rPr>
              <a:t>UI/UX 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02920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303520" cy="2286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▸ HUD（战斗界面）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血量条 + 经验进度条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时间轴 + 当前技能栏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1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极简设计，不遮挡视野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39"/>
            <a:ext cx="5303520" cy="2286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81527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27"/>
                </a:solidFill>
              </a:rPr>
              <a:t>▸ 升级界面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居中弹出，暂停游戏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3 张功法卡牌选择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1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文字描述 + 动态预览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39"/>
            <a:ext cx="5303520" cy="2286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24527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▸ 结算界面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伤害统计、击杀数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道果收益、技能回顾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1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进入下一局按钮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39"/>
            <a:ext cx="5303520" cy="228600"/>
          </a:xfrm>
          <a:prstGeom prst="rect">
            <a:avLst/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67527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▸ 主菜单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235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角色选择 + 天赋板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设置 + 排行榜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721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· Widget 多分辨率自适应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234440"/>
            <a:ext cx="5577840" cy="5212080"/>
          </a:xfrm>
          <a:prstGeom prst="rect">
            <a:avLst/>
          </a:prstGeom>
          <a:solidFill>
            <a:srgbClr val="1B2A45"/>
          </a:solidFill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27"/>
                </a:solidFill>
              </a:rPr>
              <a:t>视觉 &amp; 音效风格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783080"/>
            <a:ext cx="5029200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BC9C"/>
                </a:solidFill>
              </a:rPr>
              <a:t>🎨 视觉风格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2860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2D 俯视角 (Top-down)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5786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像素艺术风格（降低美术成本）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871215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粒子系统 — 技能特效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16382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Shader 屏幕闪白击中反馈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456431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相机轻微 Shake 震动效果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27"/>
                </a:solidFill>
              </a:rPr>
              <a:t>🎵 音效设计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BGM：国风电子混合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902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紧张感随游戏时间递增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828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SFX：金属剑声/雷鸣/拳击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755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AudioManager 统一管理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681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◆ 支持独立音量设置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27"/>
                </a:solidFill>
              </a:rPr>
              <a:t>📅  开发里程碑规划（约 11 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3385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338560" cy="457200"/>
          </a:xfrm>
          <a:prstGeom prst="rect">
            <a:avLst/>
          </a:prstGeom>
          <a:noFill/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034124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7316" y="1234440"/>
            <a:ext cx="4095680" cy="45720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50429" y="1234440"/>
            <a:ext cx="306490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42763" y="1234440"/>
            <a:ext cx="2034124" cy="45720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743200" cy="4663440"/>
          </a:xfrm>
          <a:prstGeom prst="rect">
            <a:avLst/>
          </a:prstGeom>
          <a:solidFill>
            <a:srgbClr val="1B2A4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2743200" cy="7772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Prototype
原型阶段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D1B2A"/>
                </a:solidFill>
              </a:rPr>
              <a:t>Week 1-2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163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玩家移动控制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56432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95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1 种武器（飞剑）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9664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428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基础刷怪机制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82896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56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升级界面（三选一）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96128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核心循环可玩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1828800"/>
            <a:ext cx="2743200" cy="4663440"/>
          </a:xfrm>
          <a:prstGeom prst="rect">
            <a:avLst/>
          </a:prstGeom>
          <a:solidFill>
            <a:srgbClr val="1B2A45"/>
          </a:solidFill>
          <a:ln w="254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1828800"/>
            <a:ext cx="2743200" cy="777240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Alpha
α 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D1B2A"/>
                </a:solidFill>
              </a:rPr>
              <a:t>Week 3-6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743200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28163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3 个角色完整实现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456432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5295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8 种技能 + 合成系统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169664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2428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BOSS 战 + 时间轴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4882896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4956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完整局内循环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5596128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5669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基础 UI 完成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828800"/>
            <a:ext cx="2743200" cy="4663440"/>
          </a:xfrm>
          <a:prstGeom prst="rect">
            <a:avLst/>
          </a:prstGeom>
          <a:solidFill>
            <a:srgbClr val="1B2A4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828800"/>
            <a:ext cx="27432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Beta
β 测试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D1B2A"/>
                </a:solidFill>
              </a:rPr>
              <a:t>Week 7-9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2743200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8163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局外进度（道果系统）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456432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5295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3 个场景主题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169664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2428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音效 + 粒子特效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882896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956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性能优化（对象池）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596128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669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数值平衡调优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1828800"/>
            <a:ext cx="2743200" cy="4663440"/>
          </a:xfrm>
          <a:prstGeom prst="rect">
            <a:avLst/>
          </a:prstGeom>
          <a:solidFill>
            <a:srgbClr val="1B2A45"/>
          </a:solidFill>
          <a:ln w="25400">
            <a:solidFill>
              <a:srgbClr val="A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0" y="1828800"/>
            <a:ext cx="2743200" cy="77724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Release
正式发布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D1B2A"/>
                </a:solidFill>
              </a:rPr>
              <a:t>Week 10-11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2743200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28163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Bug 全面修复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3456432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35295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Web(H5) 发布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4169664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42428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性能最终优化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4882896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0" y="4956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Android/iOS 移植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5596128"/>
            <a:ext cx="25603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5669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✅ 排行榜上线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254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6350">
            <a:solidFill>
              <a:srgbClr val="806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27"/>
                </a:solidFill>
              </a:rPr>
              <a:t>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103601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27"/>
                </a:solidFill>
              </a:rPr>
              <a:t>🎯  项目总结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508760"/>
            <a:ext cx="103601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9164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737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🎮 游戏名称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084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《幸存之刃》Blade Survivor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737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🛠 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084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Cocos Creator 3.8.8 (TypeScript)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27"/>
                </a:solidFill>
              </a:rPr>
              <a:t>🎭 类型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44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Roguelite 弹幕割草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✨ 特色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044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东方仙侠 + 境界突破 + 合成技能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1188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C9A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57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27"/>
                </a:solidFill>
              </a:rPr>
              <a:t>🔥 核心爽点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05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从弱到强 · 满屏弹幕 · 随机Build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61188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657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 技术重点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005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对象池 + 空间碰撞 + ECS + 数据驱动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7200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617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📅 开发周期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65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约 11 周（3 个月）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72000"/>
            <a:ext cx="5394960" cy="804672"/>
          </a:xfrm>
          <a:prstGeom prst="rect">
            <a:avLst/>
          </a:prstGeom>
          <a:solidFill>
            <a:srgbClr val="1B2A45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617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🚀 目标平台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4965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Web(H5) 为主 · Android/iOS 移植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5806440"/>
            <a:ext cx="10360152" cy="18288"/>
          </a:xfrm>
          <a:prstGeom prst="rect">
            <a:avLst/>
          </a:prstGeom>
          <a:solidFill>
            <a:srgbClr val="C9A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89788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27"/>
                </a:solidFill>
              </a:rPr>
              <a:t>Thank You · 证道飞升，从《幸存之刃》开始！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